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the 500 most recent Iraq App Store reviews of ZainCash, keyword-coded (iOS only, self-selected). They do not support a 'too many taps' premise, so we lead with safe, honest, recoverable and test the fewer-steps idea in interviews. Raw data and script are in docs/research.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parsed, validated, resolved, awaiting confirm, then executed or failed safe. Design basis: PSD2 dynamic linking (the approval is tied to amount and payee), the IETF idempotency-key draft, OWASP LLM06 Excessive Agency. Voice via the RegaLabs ASR is optional and never required for the text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disclosed in docs/19. Claude is paid; Groq and Gemini free tiers may train on prompts, so only synthetic data is ever sent. The RegaLabs ASR is the author's own service built before the challenge, used as an external API and re-measured on our own voice clips.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our own aims, not organiser requirements; the results table will only contain measured numbers. Held-out is hash-committed before prompt work and labelled by hand. With 0 failures in 180 cases the honest claim is an upper bound of about 1.7% at 95% confidence, not 'proven zero'. Details in docs/12 and docs/26.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map to the OWASP Top 10 for LLM Applications. The plan ends at the fixed MVP deadline of 8 Nov. Voice stays only if the early test passes. The repo link must be live before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77240"/>
          </a:xfrm>
          <a:prstGeom prst="rect">
            <a:avLst/>
          </a:prstGeom>
          <a:noFill/>
          <a:ln/>
        </p:spPr>
        <p:txBody>
          <a:bodyPr wrap="square" rtlCol="0"/>
          <a:lstStyle>
            <a:lvl1pPr algn="l" indent="0" marL="0">
              <a:buNone/>
              <a:defRPr lang="en-US" sz="3200" b="1" dirty="0">
                <a:solidFill>
                  <a:srgbClr val="1F2933"/>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3" name="Text 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770"/>
                </a:solidFill>
              </a:rPr>
              <a:t>Shahryar Sabir  ·  Topic 04  ·  Design brief  ·  22/10/2026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F2933"/>
                </a:solidFill>
                <a:latin typeface="Calibri" pitchFamily="34" charset="0"/>
                <a:ea typeface="Calibri" pitchFamily="34" charset="-122"/>
                <a:cs typeface="Calibri" pitchFamily="34" charset="-120"/>
              </a:rPr>
              <a:t>Bill Pay &amp; Transfer Agent</a:t>
            </a:r>
            <a:endParaRPr lang="en-US" sz="3200" dirty="0"/>
          </a:p>
        </p:txBody>
      </p:sp>
      <p:sp>
        <p:nvSpPr>
          <p:cNvPr id="3" name="sub"/>
          <p:cNvSpPr txBox="1"/>
          <p:nvPr/>
        </p:nvSpPr>
        <p:spPr>
          <a:xfrm>
            <a:off x="548640" y="1188720"/>
            <a:ext cx="10972800" cy="36576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ZainCash Agentic AI Challenge  ·  Topic 04</a:t>
            </a:r>
            <a:endParaRPr lang="en-US" sz="1600" dirty="0"/>
          </a:p>
        </p:txBody>
      </p:sp>
      <p:sp>
        <p:nvSpPr>
          <p:cNvPr id="4" name="h-what"/>
          <p:cNvSpPr txBox="1"/>
          <p:nvPr/>
        </p:nvSpPr>
        <p:spPr>
          <a:xfrm>
            <a:off x="548640" y="1920240"/>
            <a:ext cx="356616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What it does</a:t>
            </a:r>
            <a:endParaRPr lang="en-US" sz="1800" dirty="0"/>
          </a:p>
        </p:txBody>
      </p:sp>
      <p:sp>
        <p:nvSpPr>
          <p:cNvPr id="5" name="ar"/>
          <p:cNvSpPr txBox="1"/>
          <p:nvPr/>
        </p:nvSpPr>
        <p:spPr>
          <a:xfrm>
            <a:off x="548640" y="2331720"/>
            <a:ext cx="3566160" cy="640080"/>
          </a:xfrm>
          <a:prstGeom prst="rect">
            <a:avLst/>
          </a:prstGeom>
          <a:noFill/>
          <a:ln/>
        </p:spPr>
        <p:txBody>
          <a:bodyPr wrap="square" lIns="0" tIns="0" rIns="0" bIns="0" rtlCol="0" anchor="t"/>
          <a:lstStyle/>
          <a:p>
            <a:pPr rtl="1" algn="r" indent="0" marL="0">
              <a:buNone/>
            </a:pPr>
            <a:r>
              <a:rPr lang="ar-IQ" altLang="en-US" sz="2800" b="1" dirty="0">
                <a:solidFill>
                  <a:srgbClr val="1F2933"/>
                </a:solidFill>
                <a:latin typeface="Arial" pitchFamily="34" charset="0"/>
                <a:ea typeface="Arial" pitchFamily="34" charset="-122"/>
                <a:cs typeface="Arial" pitchFamily="34" charset="-120"/>
              </a:rPr>
              <a:t>دز خمسين ألف لأحمد</a:t>
            </a:r>
            <a:endParaRPr lang="ar-IQ" sz="2800" dirty="0"/>
          </a:p>
        </p:txBody>
      </p:sp>
      <p:sp>
        <p:nvSpPr>
          <p:cNvPr id="6" name="en"/>
          <p:cNvSpPr txBox="1"/>
          <p:nvPr/>
        </p:nvSpPr>
        <p:spPr>
          <a:xfrm>
            <a:off x="548640" y="2971800"/>
            <a:ext cx="3566160" cy="32004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“Send 50,000 to Ahmed.”</a:t>
            </a:r>
            <a:endParaRPr lang="en-US" sz="1400" dirty="0"/>
          </a:p>
        </p:txBody>
      </p:sp>
      <p:sp>
        <p:nvSpPr>
          <p:cNvPr id="7" name="what"/>
          <p:cNvSpPr txBox="1"/>
          <p:nvPr/>
        </p:nvSpPr>
        <p:spPr>
          <a:xfrm>
            <a:off x="548640" y="3429000"/>
            <a:ext cx="3566160" cy="20116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The agent understands one Iraqi Arabic sentence, asks if anything is unclear (which Ahmed?), shows a confirmation card, then sends exactly once.</a:t>
            </a:r>
            <a:endParaRPr lang="en-US" sz="1600" dirty="0"/>
          </a:p>
        </p:txBody>
      </p:sp>
      <p:sp>
        <p:nvSpPr>
          <p:cNvPr id="8" name="h-who"/>
          <p:cNvSpPr txBox="1"/>
          <p:nvPr/>
        </p:nvSpPr>
        <p:spPr>
          <a:xfrm>
            <a:off x="4297680" y="1920240"/>
            <a:ext cx="356616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Who it is for</a:t>
            </a:r>
            <a:endParaRPr lang="en-US" sz="1800" dirty="0"/>
          </a:p>
        </p:txBody>
      </p:sp>
      <p:sp>
        <p:nvSpPr>
          <p:cNvPr id="9" name="who"/>
          <p:cNvSpPr txBox="1"/>
          <p:nvPr/>
        </p:nvSpPr>
        <p:spPr>
          <a:xfrm>
            <a:off x="4297680" y="2331720"/>
            <a:ext cx="3566160" cy="310896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People who ask family to pay for them, people afraid of sending money to the wrong person, and anyone who pays bills every month (electricity, generator, internet). I will check this in interviews.</a:t>
            </a:r>
            <a:endParaRPr lang="en-US" sz="1600" dirty="0"/>
          </a:p>
        </p:txBody>
      </p:sp>
      <p:sp>
        <p:nvSpPr>
          <p:cNvPr id="10" name="h-prob"/>
          <p:cNvSpPr txBox="1"/>
          <p:nvPr/>
        </p:nvSpPr>
        <p:spPr>
          <a:xfrm>
            <a:off x="8046720" y="1920240"/>
            <a:ext cx="356616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The problem</a:t>
            </a:r>
            <a:endParaRPr lang="en-US" sz="1800" dirty="0"/>
          </a:p>
        </p:txBody>
      </p:sp>
      <p:sp>
        <p:nvSpPr>
          <p:cNvPr id="11" name="prob"/>
          <p:cNvSpPr txBox="1"/>
          <p:nvPr/>
        </p:nvSpPr>
        <p:spPr>
          <a:xfrm>
            <a:off x="8046720" y="2331720"/>
            <a:ext cx="3566160" cy="3108960"/>
          </a:xfrm>
          <a:prstGeom prst="rect">
            <a:avLst/>
          </a:prstGeom>
          <a:noFill/>
          <a:ln/>
        </p:spPr>
        <p:txBody>
          <a:bodyPr wrap="square" lIns="0" tIns="0" rIns="0" bIns="0" rtlCol="0" anchor="t"/>
          <a:lstStyle/>
          <a:p>
            <a:pPr indent="0" marL="0">
              <a:buNone/>
            </a:pPr>
            <a:r>
              <a:rPr lang="en-US" sz="2400" b="1" dirty="0">
                <a:solidFill>
                  <a:srgbClr val="0F6B73"/>
                </a:solidFill>
                <a:latin typeface="Calibri" pitchFamily="34" charset="0"/>
                <a:ea typeface="Calibri" pitchFamily="34" charset="-122"/>
                <a:cs typeface="Calibri" pitchFamily="34" charset="-120"/>
              </a:rPr>
              <a:t>124 of 500</a:t>
            </a:r>
            <a:endParaRPr lang="en-US" sz="2400" dirty="0"/>
          </a:p>
          <a:p>
            <a:pPr indent="0" marL="0">
              <a:buNone/>
            </a:pPr>
            <a:r>
              <a:rPr lang="en-US" sz="1600" dirty="0">
                <a:solidFill>
                  <a:srgbClr val="1F2933"/>
                </a:solidFill>
                <a:latin typeface="Calibri" pitchFamily="34" charset="0"/>
                <a:ea typeface="Calibri" pitchFamily="34" charset="-122"/>
                <a:cs typeface="Calibri" pitchFamily="34" charset="-120"/>
              </a:rPr>
              <a:t>recent ZainCash iOS reviews are 3★ or lower. The complaints: failed or stuck money, “under maintenance”, support that never answers, fees, fraud. None asks for fewer taps.</a:t>
            </a:r>
            <a:endParaRPr lang="en-US" sz="2400" dirty="0"/>
          </a:p>
        </p:txBody>
      </p:sp>
      <p:sp>
        <p:nvSpPr>
          <p:cNvPr id="12" name="principle"/>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2000" b="1" dirty="0">
                <a:solidFill>
                  <a:srgbClr val="0F6B73"/>
                </a:solidFill>
                <a:latin typeface="Calibri" pitchFamily="34" charset="0"/>
                <a:ea typeface="Calibri" pitchFamily="34" charset="-122"/>
                <a:cs typeface="Calibri" pitchFamily="34" charset="-120"/>
              </a:rPr>
              <a:t>The model understands. Deterministic code moves the money.</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F2933"/>
                </a:solidFill>
                <a:latin typeface="Calibri" pitchFamily="34" charset="0"/>
                <a:ea typeface="Calibri" pitchFamily="34" charset="-122"/>
                <a:cs typeface="Calibri" pitchFamily="34" charset="-120"/>
              </a:rPr>
              <a:t>How it works</a:t>
            </a:r>
            <a:endParaRPr lang="en-US" sz="3200" dirty="0"/>
          </a:p>
        </p:txBody>
      </p:sp>
      <p:sp>
        <p:nvSpPr>
          <p:cNvPr id="3" name="box-1"/>
          <p:cNvSpPr/>
          <p:nvPr/>
        </p:nvSpPr>
        <p:spPr>
          <a:xfrm>
            <a:off x="548640" y="1463040"/>
            <a:ext cx="2468880" cy="2103120"/>
          </a:xfrm>
          <a:prstGeom prst="roundRect">
            <a:avLst>
              <a:gd name="adj" fmla="val 3478"/>
            </a:avLst>
          </a:prstGeom>
          <a:solidFill>
            <a:srgbClr val="FFFFFF"/>
          </a:solidFill>
          <a:ln w="19050">
            <a:solidFill>
              <a:srgbClr val="C9D3D6"/>
            </a:solidFill>
            <a:prstDash val="solid"/>
          </a:ln>
        </p:spPr>
      </p:sp>
      <p:sp>
        <p:nvSpPr>
          <p:cNvPr id="4" name="box-h-1"/>
          <p:cNvSpPr txBox="1"/>
          <p:nvPr/>
        </p:nvSpPr>
        <p:spPr>
          <a:xfrm>
            <a:off x="731520" y="1600200"/>
            <a:ext cx="210312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1  Input</a:t>
            </a:r>
            <a:endParaRPr lang="en-US" sz="1800" dirty="0"/>
          </a:p>
        </p:txBody>
      </p:sp>
      <p:sp>
        <p:nvSpPr>
          <p:cNvPr id="5" name="box-t-1"/>
          <p:cNvSpPr txBox="1"/>
          <p:nvPr/>
        </p:nvSpPr>
        <p:spPr>
          <a:xfrm>
            <a:off x="731520" y="2103120"/>
            <a:ext cx="2103120" cy="13716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Typed or spoken Iraqi Arabic.</a:t>
            </a:r>
            <a:endParaRPr lang="en-US" sz="1500" dirty="0"/>
          </a:p>
        </p:txBody>
      </p:sp>
      <p:sp>
        <p:nvSpPr>
          <p:cNvPr id="6" name="arrow-1"/>
          <p:cNvSpPr/>
          <p:nvPr/>
        </p:nvSpPr>
        <p:spPr>
          <a:xfrm>
            <a:off x="3063240" y="2514600"/>
            <a:ext cx="301752" cy="0"/>
          </a:xfrm>
          <a:prstGeom prst="line">
            <a:avLst/>
          </a:prstGeom>
          <a:noFill/>
          <a:ln w="25400">
            <a:solidFill>
              <a:srgbClr val="5B6770"/>
            </a:solidFill>
            <a:prstDash val="solid"/>
            <a:tailEnd type="triangle"/>
          </a:ln>
        </p:spPr>
      </p:sp>
      <p:sp>
        <p:nvSpPr>
          <p:cNvPr id="7" name="box-2"/>
          <p:cNvSpPr/>
          <p:nvPr/>
        </p:nvSpPr>
        <p:spPr>
          <a:xfrm>
            <a:off x="3410712" y="1463040"/>
            <a:ext cx="2468880" cy="2103120"/>
          </a:xfrm>
          <a:prstGeom prst="roundRect">
            <a:avLst>
              <a:gd name="adj" fmla="val 3478"/>
            </a:avLst>
          </a:prstGeom>
          <a:solidFill>
            <a:srgbClr val="FFFFFF"/>
          </a:solidFill>
          <a:ln w="19050">
            <a:solidFill>
              <a:srgbClr val="C9D3D6"/>
            </a:solidFill>
            <a:prstDash val="solid"/>
          </a:ln>
        </p:spPr>
      </p:sp>
      <p:sp>
        <p:nvSpPr>
          <p:cNvPr id="8" name="box-h-2"/>
          <p:cNvSpPr txBox="1"/>
          <p:nvPr/>
        </p:nvSpPr>
        <p:spPr>
          <a:xfrm>
            <a:off x="3593592" y="1600200"/>
            <a:ext cx="210312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2  Understand</a:t>
            </a:r>
            <a:endParaRPr lang="en-US" sz="1800" dirty="0"/>
          </a:p>
        </p:txBody>
      </p:sp>
      <p:sp>
        <p:nvSpPr>
          <p:cNvPr id="9" name="box-t-2"/>
          <p:cNvSpPr txBox="1"/>
          <p:nvPr/>
        </p:nvSpPr>
        <p:spPr>
          <a:xfrm>
            <a:off x="3593592" y="2103120"/>
            <a:ext cx="2103120" cy="13716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Claude reads the sentence, looks up contacts and bills (read-only), and proposes a card.</a:t>
            </a:r>
            <a:endParaRPr lang="en-US" sz="1500" dirty="0"/>
          </a:p>
        </p:txBody>
      </p:sp>
      <p:sp>
        <p:nvSpPr>
          <p:cNvPr id="10" name="arrow-2"/>
          <p:cNvSpPr/>
          <p:nvPr/>
        </p:nvSpPr>
        <p:spPr>
          <a:xfrm>
            <a:off x="5925312" y="2514600"/>
            <a:ext cx="301752" cy="0"/>
          </a:xfrm>
          <a:prstGeom prst="line">
            <a:avLst/>
          </a:prstGeom>
          <a:noFill/>
          <a:ln w="25400">
            <a:solidFill>
              <a:srgbClr val="5B6770"/>
            </a:solidFill>
            <a:prstDash val="solid"/>
            <a:tailEnd type="triangle"/>
          </a:ln>
        </p:spPr>
      </p:sp>
      <p:sp>
        <p:nvSpPr>
          <p:cNvPr id="11" name="box-3"/>
          <p:cNvSpPr/>
          <p:nvPr/>
        </p:nvSpPr>
        <p:spPr>
          <a:xfrm>
            <a:off x="6272784" y="1463040"/>
            <a:ext cx="2468880" cy="2103120"/>
          </a:xfrm>
          <a:prstGeom prst="roundRect">
            <a:avLst>
              <a:gd name="adj" fmla="val 3478"/>
            </a:avLst>
          </a:prstGeom>
          <a:solidFill>
            <a:srgbClr val="EEF2F3"/>
          </a:solidFill>
          <a:ln w="19050">
            <a:solidFill>
              <a:srgbClr val="0F6B73"/>
            </a:solidFill>
            <a:prstDash val="solid"/>
          </a:ln>
        </p:spPr>
      </p:sp>
      <p:sp>
        <p:nvSpPr>
          <p:cNvPr id="12" name="box-h-3"/>
          <p:cNvSpPr txBox="1"/>
          <p:nvPr/>
        </p:nvSpPr>
        <p:spPr>
          <a:xfrm>
            <a:off x="6455664" y="1600200"/>
            <a:ext cx="210312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3  Check</a:t>
            </a:r>
            <a:endParaRPr lang="en-US" sz="1800" dirty="0"/>
          </a:p>
        </p:txBody>
      </p:sp>
      <p:sp>
        <p:nvSpPr>
          <p:cNvPr id="13" name="box-t-3"/>
          <p:cNvSpPr txBox="1"/>
          <p:nvPr/>
        </p:nvSpPr>
        <p:spPr>
          <a:xfrm>
            <a:off x="6455664" y="2103120"/>
            <a:ext cx="2103120" cy="13716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Code validates, matches real contacts, asks if unclear, issues a one-time confirm token.</a:t>
            </a:r>
            <a:endParaRPr lang="en-US" sz="1500" dirty="0"/>
          </a:p>
        </p:txBody>
      </p:sp>
      <p:sp>
        <p:nvSpPr>
          <p:cNvPr id="14" name="arrow-3"/>
          <p:cNvSpPr/>
          <p:nvPr/>
        </p:nvSpPr>
        <p:spPr>
          <a:xfrm>
            <a:off x="8787384" y="2514600"/>
            <a:ext cx="301752" cy="0"/>
          </a:xfrm>
          <a:prstGeom prst="line">
            <a:avLst/>
          </a:prstGeom>
          <a:noFill/>
          <a:ln w="25400">
            <a:solidFill>
              <a:srgbClr val="5B6770"/>
            </a:solidFill>
            <a:prstDash val="solid"/>
            <a:tailEnd type="triangle"/>
          </a:ln>
        </p:spPr>
      </p:sp>
      <p:sp>
        <p:nvSpPr>
          <p:cNvPr id="15" name="box-4"/>
          <p:cNvSpPr/>
          <p:nvPr/>
        </p:nvSpPr>
        <p:spPr>
          <a:xfrm>
            <a:off x="9134856" y="1463040"/>
            <a:ext cx="2468880" cy="2103120"/>
          </a:xfrm>
          <a:prstGeom prst="roundRect">
            <a:avLst>
              <a:gd name="adj" fmla="val 3478"/>
            </a:avLst>
          </a:prstGeom>
          <a:solidFill>
            <a:srgbClr val="FFFFFF"/>
          </a:solidFill>
          <a:ln w="19050">
            <a:solidFill>
              <a:srgbClr val="C9D3D6"/>
            </a:solidFill>
            <a:prstDash val="solid"/>
          </a:ln>
        </p:spPr>
      </p:sp>
      <p:sp>
        <p:nvSpPr>
          <p:cNvPr id="16" name="box-h-4"/>
          <p:cNvSpPr txBox="1"/>
          <p:nvPr/>
        </p:nvSpPr>
        <p:spPr>
          <a:xfrm>
            <a:off x="9317736" y="1600200"/>
            <a:ext cx="210312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4  Pay</a:t>
            </a:r>
            <a:endParaRPr lang="en-US" sz="1800" dirty="0"/>
          </a:p>
        </p:txBody>
      </p:sp>
      <p:sp>
        <p:nvSpPr>
          <p:cNvPr id="17" name="box-t-4"/>
          <p:cNvSpPr txBox="1"/>
          <p:nvPr/>
        </p:nvSpPr>
        <p:spPr>
          <a:xfrm>
            <a:off x="9317736" y="2103120"/>
            <a:ext cx="2103120" cy="13716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Mock wallet sends once, even on retry. Shows the result or an honest failure.</a:t>
            </a:r>
            <a:endParaRPr lang="en-US" sz="1500" dirty="0"/>
          </a:p>
        </p:txBody>
      </p:sp>
      <p:sp>
        <p:nvSpPr>
          <p:cNvPr id="18" name="rules-h"/>
          <p:cNvSpPr txBox="1"/>
          <p:nvPr/>
        </p:nvSpPr>
        <p:spPr>
          <a:xfrm>
            <a:off x="548640" y="3886200"/>
            <a:ext cx="1097280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Five rules that never change</a:t>
            </a:r>
            <a:endParaRPr lang="en-US" sz="1800" dirty="0"/>
          </a:p>
        </p:txBody>
      </p:sp>
      <p:sp>
        <p:nvSpPr>
          <p:cNvPr id="19" name="rules"/>
          <p:cNvSpPr txBox="1"/>
          <p:nvPr/>
        </p:nvSpPr>
        <p:spPr>
          <a:xfrm>
            <a:off x="548640" y="4343400"/>
            <a:ext cx="11064240" cy="1920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The model has no payment tool. It reads and proposes only.</a:t>
            </a:r>
            <a:endParaRPr lang="en-US" sz="1600" dirty="0"/>
          </a:p>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Unclear or ambiguous request: it asks. It never guesses.</a:t>
            </a:r>
            <a:endParaRPr lang="en-US" sz="1600" dirty="0"/>
          </a:p>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Nothing moves without the user's tap on the confirmation card (single-use token).</a:t>
            </a:r>
            <a:endParaRPr lang="en-US" sz="1600" dirty="0"/>
          </a:p>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One idempotency key per card, so retries never charge twice.</a:t>
            </a:r>
            <a:endParaRPr lang="en-US" sz="1600" dirty="0"/>
          </a:p>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Any failure ends safely: “nothing was sent”.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F2933"/>
                </a:solidFill>
                <a:latin typeface="Calibri" pitchFamily="34" charset="0"/>
                <a:ea typeface="Calibri" pitchFamily="34" charset="-122"/>
                <a:cs typeface="Calibri" pitchFamily="34" charset="-120"/>
              </a:rPr>
              <a:t>Models, tools and data</a:t>
            </a:r>
            <a:endParaRPr lang="en-US" sz="3200" dirty="0"/>
          </a:p>
        </p:txBody>
      </p:sp>
      <p:sp>
        <p:nvSpPr>
          <p:cNvPr id="3" name="h-models"/>
          <p:cNvSpPr txBox="1"/>
          <p:nvPr/>
        </p:nvSpPr>
        <p:spPr>
          <a:xfrm>
            <a:off x="548640" y="1371600"/>
            <a:ext cx="356616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Models</a:t>
            </a:r>
            <a:endParaRPr lang="en-US" sz="1800" dirty="0"/>
          </a:p>
        </p:txBody>
      </p:sp>
      <p:sp>
        <p:nvSpPr>
          <p:cNvPr id="4" name="models"/>
          <p:cNvSpPr txBox="1"/>
          <p:nvPr/>
        </p:nvSpPr>
        <p:spPr>
          <a:xfrm>
            <a:off x="548640" y="1828800"/>
            <a:ext cx="3566160" cy="4297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Claude Haiku 5.5: live understanding (paid, spend-capped)</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Claude Sonnet 5.5: hard cases</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Groq and Gemini 3 Flash-Lite: free fallbacks and comparison</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RegaLabs Iraqi-Arabic ASR: my own existing service, disclosed; voice is optional</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Claude Code: AI coding assistant</a:t>
            </a:r>
            <a:endParaRPr lang="en-US" sz="1500" dirty="0"/>
          </a:p>
        </p:txBody>
      </p:sp>
      <p:sp>
        <p:nvSpPr>
          <p:cNvPr id="5" name="h-tools"/>
          <p:cNvSpPr txBox="1"/>
          <p:nvPr/>
        </p:nvSpPr>
        <p:spPr>
          <a:xfrm>
            <a:off x="4480560" y="1371600"/>
            <a:ext cx="356616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Tools</a:t>
            </a:r>
            <a:endParaRPr lang="en-US" sz="1800" dirty="0"/>
          </a:p>
        </p:txBody>
      </p:sp>
      <p:sp>
        <p:nvSpPr>
          <p:cNvPr id="6" name="tools"/>
          <p:cNvSpPr txBox="1"/>
          <p:nvPr/>
        </p:nvSpPr>
        <p:spPr>
          <a:xfrm>
            <a:off x="4480560" y="1828800"/>
            <a:ext cx="3566160" cy="4297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TypeScript, Next.js (Arabic, right-to-left UI)</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Hono + SQLite: the mock wallet</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Zod and a plain state machine, no agent framework</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Vitest, fast-check, k6: invariant, property and concurrency tests</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promptfoo: compare prompts and models</a:t>
            </a:r>
            <a:endParaRPr lang="en-US" sz="1500" dirty="0"/>
          </a:p>
        </p:txBody>
      </p:sp>
      <p:sp>
        <p:nvSpPr>
          <p:cNvPr id="7" name="h-data"/>
          <p:cNvSpPr txBox="1"/>
          <p:nvPr/>
        </p:nvSpPr>
        <p:spPr>
          <a:xfrm>
            <a:off x="8412480" y="1371600"/>
            <a:ext cx="356616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Data (100% synthetic)</a:t>
            </a:r>
            <a:endParaRPr lang="en-US" sz="1800" dirty="0"/>
          </a:p>
        </p:txBody>
      </p:sp>
      <p:sp>
        <p:nvSpPr>
          <p:cNvPr id="8" name="data"/>
          <p:cNvSpPr txBox="1"/>
          <p:nvPr/>
        </p:nvSpPr>
        <p:spPr>
          <a:xfrm>
            <a:off x="8412480" y="1828800"/>
            <a:ext cx="3566160" cy="4297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An LLM generates the mock wallet from our schema: two Ahmeds, similar names, a down biller, a paid bill</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About 300 Iraqi-dialect requests, written by a different model than the primary, then edited and labelled by hand</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40% dev, 60% held-out; the held-out file is hash-frozen and never tuned on</a:t>
            </a:r>
            <a:endParaRPr lang="en-US" sz="1500" dirty="0"/>
          </a:p>
          <a:p>
            <a:pPr marL="203200" indent="-2032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Iraqi speakers review a sample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F2933"/>
                </a:solidFill>
                <a:latin typeface="Calibri" pitchFamily="34" charset="0"/>
                <a:ea typeface="Calibri" pitchFamily="34" charset="-122"/>
                <a:cs typeface="Calibri" pitchFamily="34" charset="-120"/>
              </a:rPr>
              <a:t>How we test it</a:t>
            </a:r>
            <a:endParaRPr lang="en-US" sz="3200" dirty="0"/>
          </a:p>
        </p:txBody>
      </p:sp>
      <p:sp>
        <p:nvSpPr>
          <p:cNvPr id="3" name="h-zero"/>
          <p:cNvSpPr txBox="1"/>
          <p:nvPr/>
        </p:nvSpPr>
        <p:spPr>
          <a:xfrm>
            <a:off x="548640" y="1371600"/>
            <a:ext cx="493776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Must be zero</a:t>
            </a:r>
            <a:endParaRPr lang="en-US" sz="1800" dirty="0"/>
          </a:p>
        </p:txBody>
      </p:sp>
      <p:sp>
        <p:nvSpPr>
          <p:cNvPr id="4" name="zero-1"/>
          <p:cNvSpPr txBox="1"/>
          <p:nvPr/>
        </p:nvSpPr>
        <p:spPr>
          <a:xfrm>
            <a:off x="548640" y="1828800"/>
            <a:ext cx="822960" cy="731520"/>
          </a:xfrm>
          <a:prstGeom prst="rect">
            <a:avLst/>
          </a:prstGeom>
          <a:noFill/>
          <a:ln/>
        </p:spPr>
        <p:txBody>
          <a:bodyPr wrap="square" lIns="0" tIns="0" rIns="0" bIns="0" rtlCol="0" anchor="ctr"/>
          <a:lstStyle/>
          <a:p>
            <a:pPr indent="0" marL="0">
              <a:buNone/>
            </a:pPr>
            <a:r>
              <a:rPr lang="en-US" sz="4400" b="1" dirty="0">
                <a:solidFill>
                  <a:srgbClr val="0F6B73"/>
                </a:solidFill>
                <a:latin typeface="Calibri" pitchFamily="34" charset="0"/>
                <a:ea typeface="Calibri" pitchFamily="34" charset="-122"/>
                <a:cs typeface="Calibri" pitchFamily="34" charset="-120"/>
              </a:rPr>
              <a:t>0</a:t>
            </a:r>
            <a:endParaRPr lang="en-US" sz="4400" dirty="0"/>
          </a:p>
        </p:txBody>
      </p:sp>
      <p:sp>
        <p:nvSpPr>
          <p:cNvPr id="5" name="zero-t-1"/>
          <p:cNvSpPr txBox="1"/>
          <p:nvPr/>
        </p:nvSpPr>
        <p:spPr>
          <a:xfrm>
            <a:off x="1417320" y="1828800"/>
            <a:ext cx="402336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Payments without a valid confirmation</a:t>
            </a:r>
            <a:endParaRPr lang="en-US" sz="1600" dirty="0"/>
          </a:p>
        </p:txBody>
      </p:sp>
      <p:sp>
        <p:nvSpPr>
          <p:cNvPr id="6" name="zero-2"/>
          <p:cNvSpPr txBox="1"/>
          <p:nvPr/>
        </p:nvSpPr>
        <p:spPr>
          <a:xfrm>
            <a:off x="548640" y="2633472"/>
            <a:ext cx="822960" cy="731520"/>
          </a:xfrm>
          <a:prstGeom prst="rect">
            <a:avLst/>
          </a:prstGeom>
          <a:noFill/>
          <a:ln/>
        </p:spPr>
        <p:txBody>
          <a:bodyPr wrap="square" lIns="0" tIns="0" rIns="0" bIns="0" rtlCol="0" anchor="ctr"/>
          <a:lstStyle/>
          <a:p>
            <a:pPr indent="0" marL="0">
              <a:buNone/>
            </a:pPr>
            <a:r>
              <a:rPr lang="en-US" sz="4400" b="1" dirty="0">
                <a:solidFill>
                  <a:srgbClr val="0F6B73"/>
                </a:solidFill>
                <a:latin typeface="Calibri" pitchFamily="34" charset="0"/>
                <a:ea typeface="Calibri" pitchFamily="34" charset="-122"/>
                <a:cs typeface="Calibri" pitchFamily="34" charset="-120"/>
              </a:rPr>
              <a:t>0</a:t>
            </a:r>
            <a:endParaRPr lang="en-US" sz="4400" dirty="0"/>
          </a:p>
        </p:txBody>
      </p:sp>
      <p:sp>
        <p:nvSpPr>
          <p:cNvPr id="7" name="zero-t-2"/>
          <p:cNvSpPr txBox="1"/>
          <p:nvPr/>
        </p:nvSpPr>
        <p:spPr>
          <a:xfrm>
            <a:off x="1417320" y="2633472"/>
            <a:ext cx="402336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Double charges under retry</a:t>
            </a:r>
            <a:endParaRPr lang="en-US" sz="1600" dirty="0"/>
          </a:p>
        </p:txBody>
      </p:sp>
      <p:sp>
        <p:nvSpPr>
          <p:cNvPr id="8" name="zero-3"/>
          <p:cNvSpPr txBox="1"/>
          <p:nvPr/>
        </p:nvSpPr>
        <p:spPr>
          <a:xfrm>
            <a:off x="548640" y="3438144"/>
            <a:ext cx="822960" cy="731520"/>
          </a:xfrm>
          <a:prstGeom prst="rect">
            <a:avLst/>
          </a:prstGeom>
          <a:noFill/>
          <a:ln/>
        </p:spPr>
        <p:txBody>
          <a:bodyPr wrap="square" lIns="0" tIns="0" rIns="0" bIns="0" rtlCol="0" anchor="ctr"/>
          <a:lstStyle/>
          <a:p>
            <a:pPr indent="0" marL="0">
              <a:buNone/>
            </a:pPr>
            <a:r>
              <a:rPr lang="en-US" sz="4400" b="1" dirty="0">
                <a:solidFill>
                  <a:srgbClr val="0F6B73"/>
                </a:solidFill>
                <a:latin typeface="Calibri" pitchFamily="34" charset="0"/>
                <a:ea typeface="Calibri" pitchFamily="34" charset="-122"/>
                <a:cs typeface="Calibri" pitchFamily="34" charset="-120"/>
              </a:rPr>
              <a:t>0</a:t>
            </a:r>
            <a:endParaRPr lang="en-US" sz="4400" dirty="0"/>
          </a:p>
        </p:txBody>
      </p:sp>
      <p:sp>
        <p:nvSpPr>
          <p:cNvPr id="9" name="zero-t-3"/>
          <p:cNvSpPr txBox="1"/>
          <p:nvPr/>
        </p:nvSpPr>
        <p:spPr>
          <a:xfrm>
            <a:off x="1417320" y="3438144"/>
            <a:ext cx="402336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Payments on requests that should not go through</a:t>
            </a:r>
            <a:endParaRPr lang="en-US" sz="1600" dirty="0"/>
          </a:p>
        </p:txBody>
      </p:sp>
      <p:sp>
        <p:nvSpPr>
          <p:cNvPr id="10" name="zero-note"/>
          <p:cNvSpPr txBox="1"/>
          <p:nvPr/>
        </p:nvSpPr>
        <p:spPr>
          <a:xfrm>
            <a:off x="548640" y="4297680"/>
            <a:ext cx="4937760" cy="73152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Stress tests: 20 parallel same-key requests × 50 keys, timeouts after commit, tampered and expired tokens.</a:t>
            </a:r>
            <a:endParaRPr lang="en-US" sz="1400" dirty="0"/>
          </a:p>
        </p:txBody>
      </p:sp>
      <p:sp>
        <p:nvSpPr>
          <p:cNvPr id="11" name="h-aims"/>
          <p:cNvSpPr txBox="1"/>
          <p:nvPr/>
        </p:nvSpPr>
        <p:spPr>
          <a:xfrm>
            <a:off x="6035040" y="1371600"/>
            <a:ext cx="557784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Quality aims (not yet measured)</a:t>
            </a:r>
            <a:endParaRPr lang="en-US" sz="1800" dirty="0"/>
          </a:p>
        </p:txBody>
      </p:sp>
      <p:graphicFrame>
        <p:nvGraphicFramePr>
          <p:cNvPr id="5" name="aims-table"/>
          <p:cNvGraphicFramePr>
            <a:graphicFrameLocks noGrp="1"/>
          </p:cNvGraphicFramePr>
          <p:nvPr>
            <p:extLst>
              <p:ext uri="{D42A27DB-BD31-4B8C-83A1-F6EECF244321}">
                <p14:modId xmlns:p14="http://schemas.microsoft.com/office/powerpoint/2010/main" val="1579011935"/>
              </p:ext>
            </p:extLst>
          </p:nvPr>
        </p:nvGraphicFramePr>
        <p:xfrm>
          <a:off x="6035040" y="1828800"/>
          <a:ext cx="5577840" cy="914400"/>
        </p:xfrm>
        <a:graphic>
          <a:graphicData uri="http://schemas.openxmlformats.org/drawingml/2006/table">
            <a:tbl>
              <a:tblPr/>
              <a:tblGrid>
                <a:gridCol w="4023360"/>
                <a:gridCol w="1554480"/>
              </a:tblGrid>
              <a:tr h="384048">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Metric, on the held-out set</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2F3"/>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Aim</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2F3"/>
                    </a:solidFill>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Intent accuracy</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 95%</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All slots correct (who, what, how much)</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 90%</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Asks when a request is ambiguous</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 95%</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End-to-end completion</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 90%</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384048">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Request to confirmation card (median)</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 3 s</a:t>
                      </a:r>
                      <a:endParaRPr lang="en-US" sz="14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3" name="how-h"/>
          <p:cNvSpPr txBox="1"/>
          <p:nvPr/>
        </p:nvSpPr>
        <p:spPr>
          <a:xfrm>
            <a:off x="548640" y="5257800"/>
            <a:ext cx="10972800" cy="32004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How we stay honest</a:t>
            </a:r>
            <a:endParaRPr lang="en-US" sz="1800" dirty="0"/>
          </a:p>
        </p:txBody>
      </p:sp>
      <p:sp>
        <p:nvSpPr>
          <p:cNvPr id="14" name="how"/>
          <p:cNvSpPr txBox="1"/>
          <p:nvPr/>
        </p:nvSpPr>
        <p:spPr>
          <a:xfrm>
            <a:off x="548640" y="5623560"/>
            <a:ext cx="11064240" cy="6858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150+ held-out requests (ambiguous, malformed and must-not-go-through included), 95% confidence intervals, a second Iraqi labeller, 3–5 user tests and a red-team session. Real numbers only.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F2933"/>
                </a:solidFill>
                <a:latin typeface="Calibri" pitchFamily="34" charset="0"/>
                <a:ea typeface="Calibri" pitchFamily="34" charset="-122"/>
                <a:cs typeface="Calibri" pitchFamily="34" charset="-120"/>
              </a:rPr>
              <a:t>Risks and plan</a:t>
            </a:r>
            <a:endParaRPr lang="en-US" sz="3200" dirty="0"/>
          </a:p>
        </p:txBody>
      </p:sp>
      <p:sp>
        <p:nvSpPr>
          <p:cNvPr id="3" name="h-risk"/>
          <p:cNvSpPr txBox="1"/>
          <p:nvPr/>
        </p:nvSpPr>
        <p:spPr>
          <a:xfrm>
            <a:off x="548640" y="1280160"/>
            <a:ext cx="685800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Main risks</a:t>
            </a:r>
            <a:endParaRPr lang="en-US" sz="1800" dirty="0"/>
          </a:p>
        </p:txBody>
      </p:sp>
      <p:graphicFrame>
        <p:nvGraphicFramePr>
          <p:cNvPr id="6" name="risk-table"/>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914400"/>
        </p:xfrm>
        <a:graphic>
          <a:graphicData uri="http://schemas.openxmlformats.org/drawingml/2006/table">
            <a:tbl>
              <a:tblPr/>
              <a:tblGrid>
                <a:gridCol w="2468880"/>
                <a:gridCol w="4480560"/>
              </a:tblGrid>
              <a:tr h="54864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2F3"/>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What we do</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2F3"/>
                    </a:solidFill>
                  </a:tcPr>
                </a:tc>
              </a:tr>
              <a:tr h="54864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Dialect and slang amounts</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Dialect test set, native review; a parser double-checks the amount; unsure means ask</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54864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Invented recipient or amount</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Strict schema check; recipient only from the real contact list</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54864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Prompt injection, too much agency</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Read-only tools, no payment tool, token enforced outside the model</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54864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Provider limits, cost, outage</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Cache, fallback models, spend cap, honest “busy” message</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54864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Voice errors on names</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Confidence check, read-back, confirm card; text works alone</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548640">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Users may not want fewer steps</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Interviews; report the result even if negative</a:t>
                      </a:r>
                      <a:endParaRPr lang="en-US" sz="1300" dirty="0">
                        <a:latin typeface="Calibri" charset="0"/>
                        <a:ea typeface="Calibri" charset="0"/>
                        <a:cs typeface="Calibri" charset="0"/>
                      </a:endParaRPr>
                    </a:p>
                  </a:txBody>
                  <a:tcPr marL="91440" marR="91440" marT="36576" marB="36576"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 name="h-plan"/>
          <p:cNvSpPr txBox="1"/>
          <p:nvPr/>
        </p:nvSpPr>
        <p:spPr>
          <a:xfrm>
            <a:off x="7955280" y="1280160"/>
            <a:ext cx="3657600" cy="365760"/>
          </a:xfrm>
          <a:prstGeom prst="rect">
            <a:avLst/>
          </a:prstGeom>
          <a:noFill/>
          <a:ln/>
        </p:spPr>
        <p:txBody>
          <a:bodyPr wrap="square" lIns="0" tIns="0" rIns="0" bIns="0" rtlCol="0" anchor="t"/>
          <a:lstStyle/>
          <a:p>
            <a:pPr indent="0" marL="0">
              <a:buNone/>
            </a:pPr>
            <a:r>
              <a:rPr lang="en-US" sz="1800" b="1" dirty="0">
                <a:solidFill>
                  <a:srgbClr val="0F6B73"/>
                </a:solidFill>
                <a:latin typeface="Calibri" pitchFamily="34" charset="0"/>
                <a:ea typeface="Calibri" pitchFamily="34" charset="-122"/>
                <a:cs typeface="Calibri" pitchFamily="34" charset="-120"/>
              </a:rPr>
              <a:t>Plan to the MVP (8 Nov)</a:t>
            </a:r>
            <a:endParaRPr lang="en-US" sz="1800" dirty="0"/>
          </a:p>
        </p:txBody>
      </p:sp>
      <p:sp>
        <p:nvSpPr>
          <p:cNvPr id="6" name="plan"/>
          <p:cNvSpPr txBox="1"/>
          <p:nvPr/>
        </p:nvSpPr>
        <p:spPr>
          <a:xfrm>
            <a:off x="7955280" y="1691640"/>
            <a:ext cx="3657600" cy="3566160"/>
          </a:xfrm>
          <a:prstGeom prst="rect">
            <a:avLst/>
          </a:prstGeom>
          <a:noFill/>
          <a:ln/>
        </p:spPr>
        <p:txBody>
          <a:bodyPr wrap="square" lIns="0" tIns="0" rIns="0" bIns="0" rtlCol="0" anchor="t"/>
          <a:lstStyle/>
          <a:p>
            <a:pPr indent="0" marL="0">
              <a:buNone/>
            </a:pPr>
            <a:r>
              <a:rPr lang="en-US" sz="1500" b="1" dirty="0">
                <a:solidFill>
                  <a:srgbClr val="0F6B73"/>
                </a:solidFill>
                <a:latin typeface="Calibri" pitchFamily="34" charset="0"/>
                <a:ea typeface="Calibri" pitchFamily="34" charset="-122"/>
                <a:cs typeface="Calibri" pitchFamily="34" charset="-120"/>
              </a:rPr>
              <a:t>15–22 Oct  </a:t>
            </a:r>
            <a:pPr indent="0" marL="0">
              <a:spcAft>
                <a:spcPts val="1200"/>
              </a:spcAft>
              <a:buNone/>
            </a:pPr>
            <a:r>
              <a:rPr lang="en-US" sz="1500" dirty="0">
                <a:solidFill>
                  <a:srgbClr val="1F2933"/>
                </a:solidFill>
                <a:latin typeface="Calibri" pitchFamily="34" charset="0"/>
                <a:ea typeface="Calibri" pitchFamily="34" charset="-122"/>
                <a:cs typeface="Calibri" pitchFamily="34" charset="-120"/>
              </a:rPr>
              <a:t>Brief, repo, research, dev-set generation, voice test</a:t>
            </a:r>
            <a:endParaRPr lang="en-US" sz="1500" dirty="0"/>
          </a:p>
          <a:p>
            <a:pPr indent="0" marL="0">
              <a:buNone/>
            </a:pPr>
            <a:r>
              <a:rPr lang="en-US" sz="1500" b="1" dirty="0">
                <a:solidFill>
                  <a:srgbClr val="0F6B73"/>
                </a:solidFill>
                <a:latin typeface="Calibri" pitchFamily="34" charset="0"/>
                <a:ea typeface="Calibri" pitchFamily="34" charset="-122"/>
                <a:cs typeface="Calibri" pitchFamily="34" charset="-120"/>
              </a:rPr>
              <a:t>23–29 Oct  </a:t>
            </a:r>
            <a:pPr indent="0" marL="0">
              <a:spcAft>
                <a:spcPts val="1200"/>
              </a:spcAft>
              <a:buNone/>
            </a:pPr>
            <a:r>
              <a:rPr lang="en-US" sz="1500" dirty="0">
                <a:solidFill>
                  <a:srgbClr val="1F2933"/>
                </a:solidFill>
                <a:latin typeface="Calibri" pitchFamily="34" charset="0"/>
                <a:ea typeface="Calibri" pitchFamily="34" charset="-122"/>
                <a:cs typeface="Calibri" pitchFamily="34" charset="-120"/>
              </a:rPr>
              <a:t>Safe core: schema, state machine, mock wallet, tests</a:t>
            </a:r>
            <a:endParaRPr lang="en-US" sz="1500" dirty="0"/>
          </a:p>
          <a:p>
            <a:pPr indent="0" marL="0">
              <a:buNone/>
            </a:pPr>
            <a:r>
              <a:rPr lang="en-US" sz="1500" b="1" dirty="0">
                <a:solidFill>
                  <a:srgbClr val="0F6B73"/>
                </a:solidFill>
                <a:latin typeface="Calibri" pitchFamily="34" charset="0"/>
                <a:ea typeface="Calibri" pitchFamily="34" charset="-122"/>
                <a:cs typeface="Calibri" pitchFamily="34" charset="-120"/>
              </a:rPr>
              <a:t>30 Oct–5 Nov  </a:t>
            </a:r>
            <a:pPr indent="0" marL="0">
              <a:spcAft>
                <a:spcPts val="1200"/>
              </a:spcAft>
              <a:buNone/>
            </a:pPr>
            <a:r>
              <a:rPr lang="en-US" sz="1500" dirty="0">
                <a:solidFill>
                  <a:srgbClr val="1F2933"/>
                </a:solidFill>
                <a:latin typeface="Calibri" pitchFamily="34" charset="0"/>
                <a:ea typeface="Calibri" pitchFamily="34" charset="-122"/>
                <a:cs typeface="Calibri" pitchFamily="34" charset="-120"/>
              </a:rPr>
              <a:t>Web UI, test sets, first results</a:t>
            </a:r>
            <a:endParaRPr lang="en-US" sz="1500" dirty="0"/>
          </a:p>
          <a:p>
            <a:pPr indent="0" marL="0">
              <a:buNone/>
            </a:pPr>
            <a:r>
              <a:rPr lang="en-US" sz="1500" b="1" dirty="0">
                <a:solidFill>
                  <a:srgbClr val="0F6B73"/>
                </a:solidFill>
                <a:latin typeface="Calibri" pitchFamily="34" charset="0"/>
                <a:ea typeface="Calibri" pitchFamily="34" charset="-122"/>
                <a:cs typeface="Calibri" pitchFamily="34" charset="-120"/>
              </a:rPr>
              <a:t>6–8 Nov  </a:t>
            </a:r>
            <a:pPr indent="0" marL="0">
              <a:buNone/>
            </a:pPr>
            <a:r>
              <a:rPr lang="en-US" sz="1500" dirty="0">
                <a:solidFill>
                  <a:srgbClr val="1F2933"/>
                </a:solidFill>
                <a:latin typeface="Calibri" pitchFamily="34" charset="0"/>
                <a:ea typeface="Calibri" pitchFamily="34" charset="-122"/>
                <a:cs typeface="Calibri" pitchFamily="34" charset="-120"/>
              </a:rPr>
              <a:t>MVP on the dev set, one-page update, rehearsal</a:t>
            </a:r>
            <a:endParaRPr lang="en-US" sz="1500" dirty="0"/>
          </a:p>
        </p:txBody>
      </p:sp>
      <p:sp>
        <p:nvSpPr>
          <p:cNvPr id="7" name="repo"/>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600" b="1" dirty="0">
                <a:solidFill>
                  <a:srgbClr val="0F6B73"/>
                </a:solidFill>
                <a:latin typeface="Calibri" pitchFamily="34" charset="0"/>
                <a:ea typeface="Calibri" pitchFamily="34" charset="-122"/>
                <a:cs typeface="Calibri" pitchFamily="34" charset="-120"/>
              </a:rPr>
              <a:t>GitHub: </a:t>
            </a:r>
            <a:pPr indent="0" marL="0">
              <a:buNone/>
            </a:pPr>
            <a:r>
              <a:rPr lang="en-US" sz="1600" b="1" dirty="0">
                <a:solidFill>
                  <a:srgbClr val="1F2933"/>
                </a:solidFill>
                <a:latin typeface="Calibri" pitchFamily="34" charset="0"/>
                <a:ea typeface="Calibri" pitchFamily="34" charset="-122"/>
                <a:cs typeface="Calibri" pitchFamily="34" charset="-120"/>
              </a:rPr>
              <a:t>github.com/shahrryyar/zaincash-billpay-agent</a:t>
            </a:r>
            <a:pPr indent="0" marL="0">
              <a:buNone/>
            </a:pPr>
            <a:r>
              <a:rPr lang="en-US" sz="1600" dirty="0">
                <a:solidFill>
                  <a:srgbClr val="5B6770"/>
                </a:solidFill>
                <a:latin typeface="Calibri" pitchFamily="34" charset="0"/>
                <a:ea typeface="Calibri" pitchFamily="34" charset="-122"/>
                <a:cs typeface="Calibri" pitchFamily="34" charset="-120"/>
              </a:rPr>
              <a:t>   Daily commits. API keys only in .env, never committed.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 Pay &amp; Transfer Agent: design brief</dc:title>
  <dc:subject>PptxGenJS Presentation</dc:subject>
  <dc:creator>Shahryar Sabir</dc:creator>
  <cp:lastModifiedBy>Shahryar Sabir</cp:lastModifiedBy>
  <cp:revision>1</cp:revision>
  <dcterms:created xsi:type="dcterms:W3CDTF">2026-10-15T19:18:05Z</dcterms:created>
  <dcterms:modified xsi:type="dcterms:W3CDTF">2026-10-15T19:18:05Z</dcterms:modified>
</cp:coreProperties>
</file>